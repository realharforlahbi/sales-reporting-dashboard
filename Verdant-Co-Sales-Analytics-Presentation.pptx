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DF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DF3"/>
                </a:solidFill>
                <a:latin typeface="Calibri"/>
              </a:rPr>
              <a:t>Sales by Region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FA3E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East</c:v>
                  </c:pt>
                  <c:pt idx="1">
                    <c:v>North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431839.11</c:v>
                </c:pt>
                <c:pt idx="1">
                  <c:v>444823.19</c:v>
                </c:pt>
                <c:pt idx="2">
                  <c:v>311705.81</c:v>
                </c:pt>
                <c:pt idx="3">
                  <c:v>405699.55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4757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E3D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DF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DF3"/>
                </a:solidFill>
                <a:latin typeface="Calibri"/>
              </a:rPr>
              <a:t>Sales by Category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5FD3C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Accessories</c:v>
                  </c:pt>
                  <c:pt idx="1">
                    <c:v>Electronics</c:v>
                  </c:pt>
                  <c:pt idx="2">
                    <c:v>Furniture</c:v>
                  </c:pt>
                  <c:pt idx="3">
                    <c:v>Office Supplies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432251.52</c:v>
                </c:pt>
                <c:pt idx="1">
                  <c:v>352857.69</c:v>
                </c:pt>
                <c:pt idx="2">
                  <c:v>442422.88</c:v>
                </c:pt>
                <c:pt idx="3">
                  <c:v>366535.56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757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E3D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DF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DF3"/>
                </a:solidFill>
                <a:latin typeface="Calibri"/>
              </a:rPr>
              <a:t>Top 5 Products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</c:v>
                  </c:pt>
                  <c:pt idx="1">
                    <c:v>Cabinet</c:v>
                  </c:pt>
                  <c:pt idx="2">
                    <c:v>Chair</c:v>
                  </c:pt>
                  <c:pt idx="3">
                    <c:v>Desk</c:v>
                  </c:pt>
                  <c:pt idx="4">
                    <c:v>Headset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65104.29</c:v>
                </c:pt>
                <c:pt idx="1">
                  <c:v>146013.33</c:v>
                </c:pt>
                <c:pt idx="2">
                  <c:v>144030.18</c:v>
                </c:pt>
                <c:pt idx="3">
                  <c:v>152379.36</c:v>
                </c:pt>
                <c:pt idx="4">
                  <c:v>184687.04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4757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E3D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DF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DF3"/>
                </a:solidFill>
                <a:latin typeface="Calibri"/>
              </a:rPr>
              <a:t>Monthly Sales Trend ($) — 2026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FA3E0"/>
            </a:solidFill>
            <a:ln w="38100" cap="flat">
              <a:solidFill>
                <a:srgbClr val="4FA3E0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FA3E0"/>
              </a:solidFill>
              <a:ln w="9525" cap="flat">
                <a:solidFill>
                  <a:srgbClr val="4FA3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269342.6</c:v>
                </c:pt>
                <c:pt idx="1">
                  <c:v>247334.81</c:v>
                </c:pt>
                <c:pt idx="2">
                  <c:v>222517.62</c:v>
                </c:pt>
                <c:pt idx="3">
                  <c:v>233046.86</c:v>
                </c:pt>
                <c:pt idx="4">
                  <c:v>179979.34</c:v>
                </c:pt>
                <c:pt idx="5">
                  <c:v>228645.29</c:v>
                </c:pt>
                <c:pt idx="6">
                  <c:v>213201.14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757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E3D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DF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DF3"/>
                </a:solidFill>
                <a:latin typeface="Calibri"/>
              </a:rPr>
              <a:t>Sales Share by Person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Sales</c:v>
                </c:pt>
              </c:strCache>
            </c:strRef>
          </c:tx>
          <c:spPr>
            <a:solidFill>
              <a:srgbClr val="5FD3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Alice</c:v>
                  </c:pt>
                  <c:pt idx="1">
                    <c:v>Ben</c:v>
                  </c:pt>
                  <c:pt idx="2">
                    <c:v>Chris</c:v>
                  </c:pt>
                  <c:pt idx="3">
                    <c:v>David</c:v>
                  </c:pt>
                  <c:pt idx="4">
                    <c:v>Emma</c:v>
                  </c:pt>
                  <c:pt idx="5">
                    <c:v>Fatima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14.28</c:v>
                </c:pt>
                <c:pt idx="1">
                  <c:v>20.48</c:v>
                </c:pt>
                <c:pt idx="2">
                  <c:v>11.66</c:v>
                </c:pt>
                <c:pt idx="3">
                  <c:v>21.01</c:v>
                </c:pt>
                <c:pt idx="4">
                  <c:v>13.64</c:v>
                </c:pt>
                <c:pt idx="5">
                  <c:v>18.93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75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E3D"/>
        </a:solidFill>
        <a:ln>
          <a:noFill/>
        </a:ln>
        <a:effectLst/>
      </c:spPr>
    </c:plotArea>
    <c:plotVisOnly val="1"/>
    <c:dispBlanksAs val="span"/>
  </c:chart>
  <c:spPr>
    <a:solidFill>
      <a:srgbClr val="1B24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VERDANT &amp; CO.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9776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Sales Reporting  •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79392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Afolabi S. Adedeji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January – July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1417320"/>
            <a:ext cx="1097280" cy="1097280"/>
          </a:xfrm>
          <a:prstGeom prst="ellipse">
            <a:avLst/>
          </a:prstGeom>
          <a:solidFill>
            <a:srgbClr val="2C384A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Verdant &amp; Co.'s Jan–Jul 2026 sales performance and identify regional gaps, product trends, and top performers — using a fully automated Excel reporting system that updates as new data is added.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processed 500 orders between January and July 2026, generating total revenue of $1,594,067.65. The North region and Furniture category led performance, while David was the top-performing salesperson.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$1,594,067.65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240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2,851 units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89720" y="2240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$3,188.14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 PRICE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$592.82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429000" y="3749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— $444,823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— $442,423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89720" y="3749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SALESPERSON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— 21.0%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097280"/>
            <a:ext cx="4023360" cy="5120640"/>
          </a:xfrm>
          <a:prstGeom prst="roundRect">
            <a:avLst>
              <a:gd name="adj" fmla="val 2273"/>
            </a:avLst>
          </a:prstGeom>
          <a:solidFill>
            <a:srgbClr val="242E3D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($444,823) and East ($431,839) lead all regions, while South trails noticeably at $311,706 — roughly 30% behind North.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worth investigating: it may reflect fewer customers, lower average order values, or a smaller sales team presence in the South region.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097280"/>
            <a:ext cx="4023360" cy="5120640"/>
          </a:xfrm>
          <a:prstGeom prst="roundRect">
            <a:avLst>
              <a:gd name="adj" fmla="val 2273"/>
            </a:avLst>
          </a:prstGeom>
          <a:solidFill>
            <a:srgbClr val="242E3D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($442,423) and Accessories ($432,252) are the strongest categories, followed by Office Supplies ($366,536) and Electronics ($352,858).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including higher-ticket items like Laptops and Monitors, Electronics ranks lowest overall — suggesting lower order volume rather than lower item value.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Sales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097280"/>
            <a:ext cx="4023360" cy="5120640"/>
          </a:xfrm>
          <a:prstGeom prst="roundRect">
            <a:avLst>
              <a:gd name="adj" fmla="val 2273"/>
            </a:avLst>
          </a:prstGeom>
          <a:solidFill>
            <a:srgbClr val="242E3D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($184,687) is the single best-selling product, ahead of Desk, Cabinet, and Chair.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Notably, Laptop — despite its high unit price — ranks lowest among all 13 products by total revenue, indicating very low order frequency.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opened strong in January ($269,343) and declined steadily through May, the lowest month at $179,979. A partial recovery followed in June before a slight dip in July — worth monitoring into H2 2026.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Salesperson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097280"/>
            <a:ext cx="4023360" cy="5120640"/>
          </a:xfrm>
          <a:prstGeom prst="roundRect">
            <a:avLst>
              <a:gd name="adj" fmla="val 2273"/>
            </a:avLst>
          </a:prstGeom>
          <a:solidFill>
            <a:srgbClr val="242E3D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(21.0%) and Ben (20.5%) generate the largest share of total sales, while Chris (11.7%) trails the team.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between top and bottom performer is roughly 9 points — not extreme, but enough to warrant a look at deal size, accounts, or lead volume.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00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Customers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600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 (98.75%)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(2+ orders)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1600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(1.25%)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242E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overwhelming 98.75% of customers placed more than one order, indicating exceptionally strong customer retention across the reporting period. Only a single customer placed just one order, suggesting the sales and account management process is highly effective at securing repeat business.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Automation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was generated from a fully automated Excel workbook designed to update without manual rework as new sales data is added: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4533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converted into a structured Excel Table (SalesData), enabling automatic range expansion.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226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Sales Amount column added: Quantity × Unit Price × (1 − Discount %), via structured references.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791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— Total Sales, Total Orders, Total Quantity Sold, Average Sale Value — built as live formulas.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created for Region, Category, Salesperson, Monthly Trend, and Product Performance.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130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Region, Category, and Month connected across all PivotTables for synchronized filtering.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07992"/>
            <a:ext cx="128016" cy="128016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799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verified by adding new rows and confirming the Table, KPIs, and dashboard updated automatically.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4FA3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444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South's underperformance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customer count, order size, and coverage vs. North and East to find the gap's root cause.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463040"/>
            <a:ext cx="502920" cy="502920"/>
          </a:xfrm>
          <a:prstGeom prst="ellipse">
            <a:avLst/>
          </a:prstGeom>
          <a:solidFill>
            <a:srgbClr val="4FA3E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1444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Electronics &amp; Laptop 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unit prices but low totals may point to a pricing, marketing, or inventory issue.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4FA3E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96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Q1–Q2 downward trend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the Jan–May decline continues into August or was a temporary dip.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242E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14800"/>
            <a:ext cx="502920" cy="502920"/>
          </a:xfrm>
          <a:prstGeom prst="ellipse">
            <a:avLst/>
          </a:prstGeom>
          <a:solidFill>
            <a:srgbClr val="4FA3E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40965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top performers' techniques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4754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what David and Ben do differently from Chris to find transferable methods.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&amp; Co. — Sales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2026-08-20T23:30:43Z</dcterms:created>
  <dcterms:modified xsi:type="dcterms:W3CDTF">2026-08-20T23:30:43Z</dcterms:modified>
</cp:coreProperties>
</file>